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Plus Jakarta Sans"/>
      <p:regular r:id="rId12"/>
      <p:bold r:id="rId13"/>
      <p:italic r:id="rId14"/>
      <p:boldItalic r:id="rId15"/>
    </p:embeddedFont>
    <p:embeddedFont>
      <p:font typeface="Inter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usJakartaSans-bold.fntdata"/><Relationship Id="rId12" Type="http://schemas.openxmlformats.org/officeDocument/2006/relationships/font" Target="fonts/PlusJakarta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-boldItalic.fntdata"/><Relationship Id="rId14" Type="http://schemas.openxmlformats.org/officeDocument/2006/relationships/font" Target="fonts/PlusJakartaSans-italic.fntdata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Italic.fntdata"/><Relationship Id="rId6" Type="http://schemas.openxmlformats.org/officeDocument/2006/relationships/slide" Target="slides/slide1.xml"/><Relationship Id="rId18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444305"/>
            <a:ext cx="1066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4444305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2581275" y="4791967"/>
            <a:ext cx="9525" cy="30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1727894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WBS CODING SCHOOL 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2080319"/>
            <a:ext cx="9101137" cy="118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Building an AI Anti-Fraud System for Financial Transactions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3491805"/>
            <a:ext cx="6953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PaySim dataset analysis, data cleaning, feature engineering, and initial XGBoost model training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4758630"/>
            <a:ext cx="179784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PROJECT PHASE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62000" y="4939605"/>
            <a:ext cx="179784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Week 1: MVP Model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971800" y="4758630"/>
            <a:ext cx="19526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ACCURACY (ROC-AUC)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971800" y="4939605"/>
            <a:ext cx="1952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0.9991 (Near Perfect)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762000" y="2657475"/>
            <a:ext cx="3352800" cy="2619375"/>
          </a:xfrm>
          <a:prstGeom prst="roundRect">
            <a:avLst>
              <a:gd fmla="val 581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4419600" y="2657475"/>
            <a:ext cx="3352800" cy="2619375"/>
          </a:xfrm>
          <a:prstGeom prst="roundRect">
            <a:avLst>
              <a:gd fmla="val 581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8077200" y="2771775"/>
            <a:ext cx="3352800" cy="2390775"/>
          </a:xfrm>
          <a:prstGeom prst="roundRect">
            <a:avLst>
              <a:gd fmla="val 637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4425" y="30099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2025" y="30099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9625" y="31242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9675" y="3133725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95850" y="313372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67737" y="3248025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 &amp; CHALLENGE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62000" y="819150"/>
            <a:ext cx="11430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Fraud Detection is Critical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114425" y="3657600"/>
            <a:ext cx="347543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Severe Class Imbalance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114425" y="4010025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Only 0.13% of all transactions are fraudulent. Naive models guessing "not fraud" achieve 99.8% dummy accuracy.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4772025" y="3657600"/>
            <a:ext cx="347543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Asymmetric Cost (Recall)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4772025" y="4010025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Missing a fraudulent transaction is far more expensive than temporarily flagging a legitimate payment for review.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429625" y="3771900"/>
            <a:ext cx="347543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Real-Time Latency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429625" y="4124325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Fraud scoring must occur within milliseconds during transaction processing to prevent financial loss.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/>
          <p:nvPr/>
        </p:nvSpPr>
        <p:spPr>
          <a:xfrm>
            <a:off x="5540126" y="2866132"/>
            <a:ext cx="5889873" cy="2163960"/>
          </a:xfrm>
          <a:prstGeom prst="roundRect">
            <a:avLst>
              <a:gd fmla="val 704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762000" y="3128962"/>
            <a:ext cx="4320926" cy="70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762000" y="4062412"/>
            <a:ext cx="4320926" cy="70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762000" y="3128962"/>
            <a:ext cx="38100" cy="7048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762000" y="4062412"/>
            <a:ext cx="38100" cy="7048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2551" y="325665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STEPS 1 &amp; 2: EDA &amp; FILTERING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62000" y="819150"/>
            <a:ext cx="11430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Analyzing 6.36M PaySim Transactions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5892551" y="3218557"/>
            <a:ext cx="629944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Data Insight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5892551" y="3609082"/>
            <a:ext cx="5280273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Exploratory analysis revealed that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100% of fraudulent cases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occur exclusively in two transaction types: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TRANSFER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CASH_OUT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5892551" y="4249042"/>
            <a:ext cx="528027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Filtering out PAYMENT, DEBIT, and CASH_IN reduced data volume by 56%, drastically accelerating training without dropping a single fraud record.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990600" y="3128962"/>
            <a:ext cx="51154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6,362,620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990600" y="3643312"/>
            <a:ext cx="511540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Total records in the raw synthetic dataset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990600" y="4062412"/>
            <a:ext cx="51154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2,770,409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90600" y="4576762"/>
            <a:ext cx="511540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Filtered subset (TRANSFER &amp; CASH_OUT only)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/>
          <p:nvPr/>
        </p:nvSpPr>
        <p:spPr>
          <a:xfrm>
            <a:off x="762000" y="1571625"/>
            <a:ext cx="3403550" cy="4752975"/>
          </a:xfrm>
          <a:prstGeom prst="roundRect">
            <a:avLst>
              <a:gd fmla="val 447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4394150" y="1571625"/>
            <a:ext cx="3403550" cy="4752975"/>
          </a:xfrm>
          <a:prstGeom prst="roundRect">
            <a:avLst>
              <a:gd fmla="val 447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8026300" y="1571625"/>
            <a:ext cx="3403550" cy="4752975"/>
          </a:xfrm>
          <a:prstGeom prst="roundRect">
            <a:avLst>
              <a:gd fmla="val 447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1076325" y="3574256"/>
            <a:ext cx="2774900" cy="304800"/>
          </a:xfrm>
          <a:prstGeom prst="roundRect">
            <a:avLst>
              <a:gd fmla="val 1875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4708475" y="3574256"/>
            <a:ext cx="2774900" cy="304800"/>
          </a:xfrm>
          <a:prstGeom prst="roundRect">
            <a:avLst>
              <a:gd fmla="val 1875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8340625" y="3574256"/>
            <a:ext cx="2774900" cy="304800"/>
          </a:xfrm>
          <a:prstGeom prst="roundRect">
            <a:avLst>
              <a:gd fmla="val 18750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STEPS 3–5: FEATURE ENGINEERING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762000" y="819150"/>
            <a:ext cx="11430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Innovation: Balance Error Metrics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076325" y="3259931"/>
            <a:ext cx="36420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1. Origin Balance Error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190625" y="3650456"/>
            <a:ext cx="26415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errorBalanceOrig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076325" y="3993356"/>
            <a:ext cx="28701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Detects zeroing-out accounts where transaction amounts mismatch actual ledger changes.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4708475" y="3259931"/>
            <a:ext cx="36420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 Destination Balance Error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4822775" y="3650456"/>
            <a:ext cx="26415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errorBalanceDest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4708475" y="3993356"/>
            <a:ext cx="28701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Flags incoming transfers where recipient balances fail to update correctly.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340625" y="3259931"/>
            <a:ext cx="36420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3. Noise Reduction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454925" y="3650456"/>
            <a:ext cx="26415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Drop IDs &amp; Rules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340625" y="3993356"/>
            <a:ext cx="28701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Removed account strings and rule-based flags to force pattern-based ML learning.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/>
          <p:nvPr/>
        </p:nvSpPr>
        <p:spPr>
          <a:xfrm>
            <a:off x="762000" y="2762250"/>
            <a:ext cx="5056882" cy="2371725"/>
          </a:xfrm>
          <a:prstGeom prst="roundRect">
            <a:avLst>
              <a:gd fmla="val 8032" name="adj"/>
            </a:avLst>
          </a:prstGeom>
          <a:solidFill>
            <a:srgbClr val="090D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1143000" y="4219575"/>
            <a:ext cx="4294882" cy="5715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6276082" y="2471737"/>
            <a:ext cx="5153917" cy="8572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6276082" y="3519487"/>
            <a:ext cx="5153917" cy="8572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6276082" y="4567237"/>
            <a:ext cx="5153917" cy="8572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1143000" y="4219575"/>
            <a:ext cx="4291012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6276082" y="2471737"/>
            <a:ext cx="47625" cy="8572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6276082" y="3519487"/>
            <a:ext cx="47625" cy="8572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6276082" y="4567237"/>
            <a:ext cx="47625" cy="8572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STEPS 6 &amp; 7: TRAINING &amp; EVALUATION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762000" y="819150"/>
            <a:ext cx="11430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XGBoost Model Performance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1143000" y="3143250"/>
            <a:ext cx="536860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ROC-AUC SCORE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1143000" y="3381375"/>
            <a:ext cx="536860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0.9991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1143000" y="4429125"/>
            <a:ext cx="439013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Separates fraudulent from legitimate transactions with 99.91% discrimination.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552307" y="2976562"/>
            <a:ext cx="563969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Detected 1,639 out of 1,643 fraudulent cases in test set.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552307" y="4024312"/>
            <a:ext cx="563969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Extremely low false-alarm rate for legitimate customers.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552307" y="5072062"/>
            <a:ext cx="563969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Processed 554,082 test transactions ultra-fast.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552307" y="2700337"/>
            <a:ext cx="20716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Recall (Fraud Class)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10325100" y="2662237"/>
            <a:ext cx="11620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99.76%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552307" y="3748087"/>
            <a:ext cx="24169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Precision (Fraud Class)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10325100" y="3709987"/>
            <a:ext cx="11620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95.62%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6552307" y="4795837"/>
            <a:ext cx="17264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Inference Speed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10391775" y="4757737"/>
            <a:ext cx="1095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B5CF6"/>
                </a:solidFill>
                <a:latin typeface="Inter"/>
                <a:ea typeface="Inter"/>
                <a:cs typeface="Inter"/>
                <a:sym typeface="Inter"/>
              </a:rPr>
              <a:t>2.3 sec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/>
          <p:nvPr/>
        </p:nvSpPr>
        <p:spPr>
          <a:xfrm>
            <a:off x="4138612" y="4446240"/>
            <a:ext cx="3914775" cy="409575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7" name="Google Shape;18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2002184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2154584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1095375" y="2840384"/>
            <a:ext cx="100012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Week 1 Deliverables Completed!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1333500" y="3516659"/>
            <a:ext cx="9525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built a functioning MVP anti-fraud system, uncovered key balance pathologies, and achieved industry-leading fraud detection metrics.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3877865" y="4560540"/>
            <a:ext cx="443626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Next Week: Threshold Optimization &amp; Deployment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